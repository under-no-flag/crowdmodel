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398809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2759"/>
            <a:ext cx="12191695" cy="812351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896112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Microsoft YaHei"/>
              </a:rPr>
              <a:t>面向开放式景区大客流管控的
Bellman--守恒律宏观模型与 HCMBO 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542032"/>
            <a:ext cx="8046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DDE7F0"/>
                </a:solidFill>
                <a:latin typeface="Microsoft YaHei"/>
              </a:rPr>
              <a:t>中文论文汇报稿 | 基于 D:\CrowdModels\writing\期刊论文章节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4407408"/>
            <a:ext cx="1691640" cy="658368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2.6338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HCMBO 平均目标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4407408"/>
            <a:ext cx="1691640" cy="658368"/>
          </a:xfrm>
          <a:prstGeom prst="round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3.9%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低于次优 TPE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4407408"/>
            <a:ext cx="1691640" cy="658368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100%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高保真可行率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94183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0">
                <a:solidFill>
                  <a:srgbClr val="EAF2F8"/>
                </a:solidFill>
                <a:latin typeface="Microsoft YaHei"/>
              </a:rPr>
              <a:t>开放空间 · 多通道 · 多阶段行为 · 方向配置与入口容量联合控制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汇报主线：从“规则可解释”到“方案可优化”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56231"/>
            <a:ext cx="2059228" cy="1051560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场景问题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开放式景区多通道交汇，经验管控难量化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35884" y="2382011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63900" y="1856231"/>
            <a:ext cx="2059228" cy="1051560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动力学建模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Bellman 路径选择 + 守恒律密度演化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41417" y="2382011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69433" y="1856231"/>
            <a:ext cx="2059228" cy="1051560"/>
          </a:xfrm>
          <a:prstGeom prst="round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控制变量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方向配置 s + 内部入口容量 q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46950" y="2382011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74966" y="1856231"/>
            <a:ext cx="2059228" cy="1051560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优化方法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HCMBO 分层约束混合变量黑箱优化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52483" y="2382011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80499" y="1856231"/>
            <a:ext cx="2059228" cy="1051560"/>
          </a:xfrm>
          <a:prstGeom prst="round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实验验证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机制、响应、多阶段、横向对比与消融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456432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456432"/>
            <a:ext cx="54864" cy="160020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602736"/>
            <a:ext cx="31089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模型层要回答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986783"/>
            <a:ext cx="3108960" cy="9784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方向规则、几何引导、阶段分流如何共同改变密度场、流线和通道负载。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456432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3456432"/>
            <a:ext cx="54864" cy="160020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3602736"/>
            <a:ext cx="31089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优化层要回答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3986783"/>
            <a:ext cx="3108960" cy="9784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在有限仿真预算内，如何搜索离散方向与连续容量组成的可行方案。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3456432"/>
            <a:ext cx="34290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1" y="3456432"/>
            <a:ext cx="54864" cy="1600200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3" y="3602736"/>
            <a:ext cx="31089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实验层要回答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3" y="3986783"/>
            <a:ext cx="3108960" cy="9784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HCMBO 是否优于随机、模拟退火、枚举-DE 与 TPE-Mixed BO 等基线。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研究背景：开放式景区的大客流组织难点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6656" y="1600200"/>
            <a:ext cx="4709160" cy="43159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398809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53862"/>
            <a:ext cx="4599432" cy="30646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1673352"/>
            <a:ext cx="44165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上海南京东路--外滩大客流场景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828800"/>
            <a:ext cx="5413248" cy="224028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700" b="0">
                <a:solidFill>
                  <a:srgbClr val="1F2937"/>
                </a:solidFill>
                <a:latin typeface="Microsoft YaHei"/>
              </a:rPr>
              <a:t>多入口、多侧向通道与滨水平台共同形成复杂流线组织。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700" b="0">
                <a:solidFill>
                  <a:srgbClr val="1F2937"/>
                </a:solidFill>
                <a:latin typeface="Microsoft YaHei"/>
              </a:rPr>
              <a:t>现场常用单向通行、临时关闭、分批放行与入口限流等管控动作。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700" b="0">
                <a:solidFill>
                  <a:srgbClr val="1F2937"/>
                </a:solidFill>
                <a:latin typeface="Microsoft YaHei"/>
              </a:rPr>
              <a:t>经验预案难以量化比较不同方向配置和放行强度的系统影响。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700" b="0">
                <a:solidFill>
                  <a:srgbClr val="1F2937"/>
                </a:solidFill>
                <a:latin typeface="Microsoft YaHei"/>
              </a:rPr>
              <a:t>开放场景中游客存在进场、游览、离场和回流等阶段性行为。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25312" y="4498848"/>
            <a:ext cx="5120640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25312" y="4498848"/>
            <a:ext cx="54864" cy="877824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9904" y="4645152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关键挑战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5029200"/>
            <a:ext cx="4800600" cy="2560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30" b="0">
                <a:solidFill>
                  <a:srgbClr val="1F2937"/>
                </a:solidFill>
                <a:latin typeface="Microsoft YaHei"/>
              </a:rPr>
              <a:t>把“方向规则--入口限流--路径选择--密度演化--负载分配”的动态耦合写进同一评估器。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核心问题：静态容量分析不足以支撑精细化管控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5074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54864" cy="132588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46504"/>
            <a:ext cx="47548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规则表达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30552"/>
            <a:ext cx="4754880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单向、双向、关闭不是连续偏好，而是局部可行方向集合的硬约束。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00200"/>
            <a:ext cx="5074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600200"/>
            <a:ext cx="54864" cy="132588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746504"/>
            <a:ext cx="47548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几何引导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130552"/>
            <a:ext cx="4754880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狭长通道会诱导提前对齐和流线重组，需要软几何项表达。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502152"/>
            <a:ext cx="5074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502152"/>
            <a:ext cx="54864" cy="1325880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648456"/>
            <a:ext cx="47548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阶段行为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032504"/>
            <a:ext cx="4754880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单一起终点模型会忽略游览、离场和回流带来的负载变化。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502152"/>
            <a:ext cx="5074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3502152"/>
            <a:ext cx="54864" cy="132588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3648456"/>
            <a:ext cx="47548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联合优化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4032504"/>
            <a:ext cx="4754880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方向 s 与容量 q 相互制约，拆开优化容易得到不可执行或次优方案。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742432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700" b="1">
                <a:solidFill>
                  <a:srgbClr val="17324D"/>
                </a:solidFill>
                <a:latin typeface="Microsoft YaHei"/>
              </a:rPr>
              <a:t>论文目标：构建可解释的 Bellman--守恒律评估器，并在有限仿真预算内搜索 z=(s,q) 的较优管控策略。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论文贡献：模型、指标与优化三层闭环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" y="1709928"/>
            <a:ext cx="457200" cy="457200"/>
          </a:xfrm>
          <a:prstGeom prst="ellipse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6479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08176" y="1600200"/>
            <a:ext cx="4434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08176" y="1600200"/>
            <a:ext cx="54864" cy="114300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1746504"/>
            <a:ext cx="4114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多阶段多路线宏观模型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30552"/>
            <a:ext cx="41148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Microsoft YaHei"/>
              </a:rPr>
              <a:t>将游客行为表示为阶段--路线子群体连续介质流动，共享拥堵反馈。</a:t>
            </a:r>
          </a:p>
        </p:txBody>
      </p:sp>
      <p:sp>
        <p:nvSpPr>
          <p:cNvPr id="12" name="Oval 11"/>
          <p:cNvSpPr/>
          <p:nvPr/>
        </p:nvSpPr>
        <p:spPr>
          <a:xfrm>
            <a:off x="6227064" y="1709928"/>
            <a:ext cx="457200" cy="457200"/>
          </a:xfrm>
          <a:prstGeom prst="ellipse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7064" y="1764792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8856" y="1600200"/>
            <a:ext cx="4434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48856" y="1600200"/>
            <a:ext cx="54864" cy="114300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1746504"/>
            <a:ext cx="4114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方向约束与几何引导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2130552"/>
            <a:ext cx="41148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Microsoft YaHei"/>
              </a:rPr>
              <a:t>用 U(x;s) 表达硬方向规则，用 M(x;η0) 表达通道轴向几何引导。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" y="3557016"/>
            <a:ext cx="457200" cy="457200"/>
          </a:xfrm>
          <a:prstGeom prst="ellipse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61188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08176" y="3447288"/>
            <a:ext cx="4434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08176" y="3447288"/>
            <a:ext cx="54864" cy="1143000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72768" y="3593592"/>
            <a:ext cx="4114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入口容量控制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977639"/>
            <a:ext cx="41148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Microsoft YaHei"/>
              </a:rPr>
              <a:t>将管控变量写为 z=(s,q)，区分企图通量、实际通过量和入口等待。</a:t>
            </a:r>
          </a:p>
        </p:txBody>
      </p:sp>
      <p:sp>
        <p:nvSpPr>
          <p:cNvPr id="24" name="Oval 23"/>
          <p:cNvSpPr/>
          <p:nvPr/>
        </p:nvSpPr>
        <p:spPr>
          <a:xfrm>
            <a:off x="6227064" y="3557016"/>
            <a:ext cx="457200" cy="457200"/>
          </a:xfrm>
          <a:prstGeom prst="ellipse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7064" y="3611880"/>
            <a:ext cx="457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48856" y="3447288"/>
            <a:ext cx="4434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48856" y="3447288"/>
            <a:ext cx="54864" cy="114300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3593592"/>
            <a:ext cx="41148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HCMBO 优化框架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3977639"/>
            <a:ext cx="41148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Microsoft YaHei"/>
              </a:rPr>
              <a:t>利用方向--容量一致性约束进行分层混合变量黑箱优化与高保真复验。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5486400"/>
            <a:ext cx="1965960" cy="566928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z=(s,q)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联合控制变量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5486400"/>
            <a:ext cx="1965960" cy="566928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U + 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硬规则 + 软引导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5486400"/>
            <a:ext cx="1965960" cy="566928"/>
          </a:xfrm>
          <a:prstGeom prst="round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HF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统一高保真复验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5486400"/>
            <a:ext cx="1965960" cy="566928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HCMBO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结构化容量搜索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场景抽象：滨水平台--多阶梯通道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444752"/>
            <a:ext cx="4663440" cy="4434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109978"/>
            <a:ext cx="4480559" cy="3360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" y="1517904"/>
            <a:ext cx="4370831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四通道二维抽象场景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2432" y="1691640"/>
            <a:ext cx="5394960" cy="2148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650" b="0">
                <a:solidFill>
                  <a:srgbClr val="1F2937"/>
                </a:solidFill>
                <a:latin typeface="Microsoft YaHei"/>
              </a:rPr>
              <a:t>区域由左侧来流、右侧观景平台、离场区域、中部隔墙和四条连通通道构成。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650" b="0">
                <a:solidFill>
                  <a:srgbClr val="1F2937"/>
                </a:solidFill>
                <a:latin typeface="Microsoft YaHei"/>
              </a:rPr>
              <a:t>每条通道两侧入口均可施加方向规则和入口通行速率约束。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650" b="0">
                <a:solidFill>
                  <a:srgbClr val="1F2937"/>
                </a:solidFill>
                <a:latin typeface="Microsoft YaHei"/>
              </a:rPr>
              <a:t>入口放行能力之外的质量保留为上游等待，保证质量守恒。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650" b="0">
                <a:solidFill>
                  <a:srgbClr val="1F2937"/>
                </a:solidFill>
                <a:latin typeface="Microsoft YaHei"/>
              </a:rPr>
              <a:t>典型高保真评估：网格 128×96，时间上限 160，1600 步。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06440" y="4187952"/>
          <a:ext cx="510235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685032"/>
              </a:tblGrid>
              <a:tr h="30861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</a:rPr>
                        <a:t>符号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</a:tr>
              <a:tr h="30861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40" b="0">
                          <a:solidFill>
                            <a:srgbClr val="1F2937"/>
                          </a:solidFill>
                          <a:latin typeface="Microsoft YaHei"/>
                        </a:rPr>
                        <a:t>s_c ∈ {+1,-1,0,∅}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40" b="0">
                          <a:solidFill>
                            <a:srgbClr val="1F2937"/>
                          </a:solidFill>
                          <a:latin typeface="Microsoft YaHei"/>
                        </a:rPr>
                        <a:t>通道方向状态：正向、反向、双向、关闭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</a:tr>
              <a:tr h="30861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40" b="0">
                          <a:solidFill>
                            <a:srgbClr val="1F2937"/>
                          </a:solidFill>
                          <a:latin typeface="Microsoft YaHei"/>
                        </a:rPr>
                        <a:t>q_c±(t)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40" b="0">
                          <a:solidFill>
                            <a:srgbClr val="1F2937"/>
                          </a:solidFill>
                          <a:latin typeface="Microsoft YaHei"/>
                        </a:rPr>
                        <a:t>通道两侧内部入口最大放行速率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40" b="0">
                          <a:solidFill>
                            <a:srgbClr val="1F2937"/>
                          </a:solidFill>
                          <a:latin typeface="Microsoft YaHei"/>
                        </a:rPr>
                        <a:t>ρ_{σ,r}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40" b="0">
                          <a:solidFill>
                            <a:srgbClr val="1F2937"/>
                          </a:solidFill>
                          <a:latin typeface="Microsoft YaHei"/>
                        </a:rPr>
                        <a:t>阶段 σ、路线 r 的子群体密度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方法总体框架：评估器与优化器解耦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7406640" cy="4956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thod_framework_tik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26" y="1719072"/>
            <a:ext cx="6433843" cy="45537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1463040"/>
            <a:ext cx="7114031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Bellman--守恒律模型与 HCMBO 优化流程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47888" y="1572768"/>
            <a:ext cx="32461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47888" y="1572768"/>
            <a:ext cx="54864" cy="1078992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19072"/>
            <a:ext cx="292607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输入层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03120"/>
            <a:ext cx="2926079" cy="4571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40" b="0">
                <a:solidFill>
                  <a:srgbClr val="1F2937"/>
                </a:solidFill>
                <a:latin typeface="Microsoft YaHei"/>
              </a:rPr>
              <a:t>场景几何、固定 η0、固定 p̂、方向 s、容量 q。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2880360"/>
            <a:ext cx="32461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7888" y="2880360"/>
            <a:ext cx="54864" cy="1078992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026664"/>
            <a:ext cx="292607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仿真层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410712"/>
            <a:ext cx="2926079" cy="4571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40" b="0">
                <a:solidFill>
                  <a:srgbClr val="1F2937"/>
                </a:solidFill>
                <a:latin typeface="Microsoft YaHei"/>
              </a:rPr>
              <a:t>解 Bellman 方程恢复方向，推进守恒律并记录 B 与 R。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4187952"/>
            <a:ext cx="32461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4187952"/>
            <a:ext cx="54864" cy="1078992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334256"/>
            <a:ext cx="292607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优化层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718304"/>
            <a:ext cx="2926079" cy="4571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40" b="0">
                <a:solidFill>
                  <a:srgbClr val="1F2937"/>
                </a:solidFill>
                <a:latin typeface="Microsoft YaHei"/>
              </a:rPr>
              <a:t>按 J(z) 排序候选，通过 HCMBO 搜索并高保真复验。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下层评估器：Bellman 路径选择 + 守恒律演化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4612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4864" cy="1261872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00784"/>
            <a:ext cx="292607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密度守恒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84831"/>
            <a:ext cx="2926079" cy="6400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∂tρ + ∇·(ρv)=0
速度大小：f(ρ)=vmax(1-ρ/ρmax)+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554480"/>
            <a:ext cx="324612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62272" y="1554480"/>
            <a:ext cx="54864" cy="1261872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00784"/>
            <a:ext cx="292607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受约束 Bellman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084831"/>
            <a:ext cx="2926079" cy="6400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φ(x)=min_{u∈U(x;s)} [φ(x+δu)+cost(u,M,ρ)]
方向由局部最小剩余代价决定。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554480"/>
            <a:ext cx="324612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554480"/>
            <a:ext cx="54864" cy="1261872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700784"/>
            <a:ext cx="292607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速度恢复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084831"/>
            <a:ext cx="2926079" cy="6400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u*(x,t)=argmin_{u∈U} (...)
v_{σ,r}=f(ρ)u*_{σ,r}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675887"/>
            <a:ext cx="1922068" cy="914400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总密度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ρ=Σρσ,r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27908" y="4133087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055924" y="3675887"/>
            <a:ext cx="1922068" cy="914400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速度函数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f(ρ)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96281" y="4133087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24297" y="3675887"/>
            <a:ext cx="1922068" cy="914400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Bellman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求 φσ,r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4654" y="4133087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92670" y="3675887"/>
            <a:ext cx="1922068" cy="914400"/>
          </a:xfrm>
          <a:prstGeom prst="round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方向场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恢复 u*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33027" y="4133087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61043" y="3675887"/>
            <a:ext cx="1922068" cy="914400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守恒律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推进 ρσ,r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21808"/>
            <a:ext cx="101498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700" b="1">
                <a:solidFill>
                  <a:srgbClr val="17324D"/>
                </a:solidFill>
                <a:latin typeface="Microsoft YaHei"/>
              </a:rPr>
              <a:t>关键：所有子群体共享由总密度决定的拥堵反馈，但拥有各自目标区、势函数和阶段转移。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方向约束与几何引导：硬规则和软偏好同时进入 Bellman 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600200"/>
          <a:ext cx="48463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920240"/>
                <a:gridCol w="1783080"/>
              </a:tblGrid>
              <a:tr h="466344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通道状态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可行方向含义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管控解释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</a:tr>
              <a:tr h="466344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+1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只允许参考正向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正向单向通行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</a:tr>
              <a:tr h="466344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-1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只允许参考反向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反向单向通行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允许双向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自由双向通行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</a:tr>
              <a:tr h="466344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∅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无可行方向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通道关闭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897880" y="1581912"/>
            <a:ext cx="53492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97880" y="1581912"/>
            <a:ext cx="54864" cy="100584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62472" y="172821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允许方向集合 U(x;s)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2472" y="2112264"/>
            <a:ext cx="5029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将单向、双向、关闭等现场规则作为硬约束写入局部运动选择。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816352"/>
            <a:ext cx="53492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97880" y="2816352"/>
            <a:ext cx="54864" cy="100584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296265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固定各向异性度量 M(x;η0)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3346704"/>
            <a:ext cx="5029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表达通道轴向运动比横向运动更有利，诱导接近通道前的预对齐。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4050791"/>
            <a:ext cx="53492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4050791"/>
            <a:ext cx="54864" cy="1005840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62472" y="419709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组合效应 U +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4581144"/>
            <a:ext cx="5029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Microsoft YaHei"/>
              </a:rPr>
              <a:t>硬方向规则改变可行路径；软几何引导改变可行方向内的相对代价。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5532120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Microsoft YaHei"/>
              </a:rPr>
              <a:t>M_c(x;η0)=β_c(η0 τ_cτ_c^T + n_cn_c^T)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内部入口容量控制：让“允许通行但限流”可计算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" y="1536192"/>
            <a:ext cx="333756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536192"/>
            <a:ext cx="54864" cy="1207008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82495"/>
            <a:ext cx="30175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容量变量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66543"/>
            <a:ext cx="301752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80" b="0">
                <a:solidFill>
                  <a:srgbClr val="1F2937"/>
                </a:solidFill>
                <a:latin typeface="Microsoft YaHei"/>
              </a:rPr>
              <a:t>q={q_c+(t), q_c-(t)}
分段或连续入口最大允许通行速率。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536192"/>
            <a:ext cx="333756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536192"/>
            <a:ext cx="54864" cy="1207008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82495"/>
            <a:ext cx="30175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实际放行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66543"/>
            <a:ext cx="301752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80" b="0">
                <a:solidFill>
                  <a:srgbClr val="1F2937"/>
                </a:solidFill>
                <a:latin typeface="Microsoft YaHei"/>
              </a:rPr>
              <a:t>Â_c±(t)=min(A_c±(t), q_c±(t))
超出部分进入入口等待。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536192"/>
            <a:ext cx="333756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36192"/>
            <a:ext cx="54864" cy="1207008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682495"/>
            <a:ext cx="30175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一致性约束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66543"/>
            <a:ext cx="301752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80" b="0">
                <a:solidFill>
                  <a:srgbClr val="1F2937"/>
                </a:solidFill>
                <a:latin typeface="Microsoft YaHei"/>
              </a:rPr>
              <a:t>方向关闭或反向禁行时，相关入口容量自动置零。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03320"/>
            <a:ext cx="1949500" cy="960120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企图通量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A_c±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82188" y="4183380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010204" y="3703320"/>
            <a:ext cx="1949500" cy="960120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容量上限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q_c±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77993" y="4183380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06009" y="3703320"/>
            <a:ext cx="1949500" cy="960120"/>
          </a:xfrm>
          <a:prstGeom prst="round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实际通过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Â=min(A,q)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73798" y="4183380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01814" y="3703320"/>
            <a:ext cx="1949500" cy="960120"/>
          </a:xfrm>
          <a:prstGeom prst="round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等待/阻塞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B_c±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69603" y="4183380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97619" y="3703320"/>
            <a:ext cx="1949500" cy="960120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累计负载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R_c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5358384"/>
            <a:ext cx="102412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700" b="1">
                <a:solidFill>
                  <a:srgbClr val="17324D"/>
                </a:solidFill>
                <a:latin typeface="Microsoft YaHei"/>
              </a:rPr>
              <a:t>评价中的通道均衡基于实际累计通过量 R，而不是管理方设置的容量上限 q。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多阶段行为层：固定偏好 p̂ 进入评估器，不作为当前优化变量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664208"/>
            <a:ext cx="2450591" cy="960120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进场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从城市侧进入平台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28999" y="2144268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7015" y="1664208"/>
            <a:ext cx="2450591" cy="960120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游览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沿滨水方向移动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25895" y="2144268"/>
            <a:ext cx="109729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53912" y="1664208"/>
            <a:ext cx="2450591" cy="960120"/>
          </a:xfrm>
          <a:prstGeom prst="round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离场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选择通道离开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22792" y="2144268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50808" y="1664208"/>
            <a:ext cx="2450591" cy="960120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回流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返回或分散至出口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5440680" cy="162763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39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639" b="0">
                <a:solidFill>
                  <a:srgbClr val="1F2937"/>
                </a:solidFill>
                <a:latin typeface="Microsoft YaHei"/>
              </a:rPr>
              <a:t>总密度分解为 ρ=Σ_{σ,r}ρ_{σ,r}，每个阶段--路线子群体拥有独立目标区。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39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639" b="0">
                <a:solidFill>
                  <a:srgbClr val="1F2937"/>
                </a:solidFill>
                <a:latin typeface="Microsoft YaHei"/>
              </a:rPr>
              <a:t>阶段转移由固定概率 p̂ 给定，用于表达历史行为偏好或场景设定。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39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639" b="0">
                <a:solidFill>
                  <a:srgbClr val="1F2937"/>
                </a:solidFill>
                <a:latin typeface="Microsoft YaHei"/>
              </a:rPr>
              <a:t>所有子群体共享同一总密度拥堵反馈，保证局部高密度影响全局路径选择。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2926080"/>
            <a:ext cx="4526280" cy="2377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3_behavior_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3321100"/>
            <a:ext cx="4416552" cy="18434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11696" y="2999232"/>
            <a:ext cx="423367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行为层验证：滞留质量与系统评价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14416"/>
            <a:ext cx="10058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650" b="1">
                <a:solidFill>
                  <a:srgbClr val="17324D"/>
                </a:solidFill>
                <a:latin typeface="Microsoft YaHei"/>
              </a:rPr>
              <a:t>实验结论：忽略阶段链会系统性改变通道负载与平台滞留评价。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评价指标：效率、安全、负载均衡与可执行性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1600200" cy="658368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J̃1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总旅行时间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783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系统效率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72768"/>
            <a:ext cx="1600200" cy="658368"/>
          </a:xfrm>
          <a:prstGeom prst="round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J̃2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高密度暴露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31720"/>
            <a:ext cx="1783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安全风险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572768"/>
            <a:ext cx="1600200" cy="658368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J̃5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实际通道负载不均衡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331720"/>
            <a:ext cx="1783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分流均衡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572768"/>
            <a:ext cx="1600200" cy="658368"/>
          </a:xfrm>
          <a:prstGeom prst="round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J̃B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入口等待/阻塞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331720"/>
            <a:ext cx="1783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可执行性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1572768"/>
            <a:ext cx="1600200" cy="658368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J̃R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容量曲线平滑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2331720"/>
            <a:ext cx="17830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管控稳定性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127248"/>
            <a:ext cx="104698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3127248"/>
            <a:ext cx="54864" cy="123444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273552"/>
            <a:ext cx="101498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标准化综合目标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57600"/>
            <a:ext cx="10149840" cy="612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Microsoft YaHei"/>
              </a:rPr>
              <a:t>J(z)=λ1J̃1 + λ2J̃2 + λ5J̃5 + λBJ̃B + λRJ̃R
实验中常用：J=J̃1+J̃2+J̃5+J̃B+0.1J̃R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19472"/>
            <a:ext cx="1014984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2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620" b="0">
                <a:solidFill>
                  <a:srgbClr val="1F2937"/>
                </a:solidFill>
                <a:latin typeface="Microsoft YaHei"/>
              </a:rPr>
              <a:t>不同权重可表达不同管理偏好，但优化框架不依赖某个单项指标最优。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2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620" b="0">
                <a:solidFill>
                  <a:srgbClr val="1F2937"/>
                </a:solidFill>
                <a:latin typeface="Microsoft YaHei"/>
              </a:rPr>
              <a:t>高保真复验统一计算目标值，避免低保真或代理排序直接决定最终结论。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HCMBO：分层约束混合变量黑箱优化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722119" cy="1060704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方向候选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生成 S_cand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07335" y="2103120"/>
            <a:ext cx="109729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35352" y="1572768"/>
            <a:ext cx="1722119" cy="1060704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容量映射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q=T_s(x)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75759" y="2103120"/>
            <a:ext cx="109729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5" y="1572768"/>
            <a:ext cx="1722119" cy="1060704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结构搜索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x∈[0,1]^d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44183" y="2103120"/>
            <a:ext cx="109729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199" y="1572768"/>
            <a:ext cx="1722119" cy="1060704"/>
          </a:xfrm>
          <a:prstGeom prst="round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仿真评估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S(z;p̂,η0)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12607" y="2103120"/>
            <a:ext cx="109729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40623" y="1572768"/>
            <a:ext cx="1722119" cy="1060704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高保真复验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统一 HF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81031" y="2103120"/>
            <a:ext cx="109728" cy="0"/>
          </a:xfrm>
          <a:prstGeom prst="line">
            <a:avLst/>
          </a:prstGeom>
          <a:ln w="1397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909047" y="1572768"/>
            <a:ext cx="1722119" cy="1060704"/>
          </a:xfrm>
          <a:prstGeom prst="round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30" b="1">
                <a:solidFill>
                  <a:srgbClr val="FFFFFF"/>
                </a:solidFill>
                <a:latin typeface="Microsoft YaHei"/>
              </a:rPr>
              <a:t>最终选择</a:t>
            </a:r>
          </a:p>
          <a:p>
            <a:pPr algn="ctr">
              <a:spcBef>
                <a:spcPts val="400"/>
              </a:spcBef>
            </a:pPr>
            <a:r>
              <a:rPr sz="869" b="0">
                <a:solidFill>
                  <a:srgbClr val="FFFFFF"/>
                </a:solidFill>
                <a:latin typeface="Microsoft YaHei"/>
              </a:rPr>
              <a:t>argmin J_HF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310128"/>
            <a:ext cx="333756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310128"/>
            <a:ext cx="54864" cy="1298448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456432"/>
            <a:ext cx="30175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为什么分层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840480"/>
            <a:ext cx="3017520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80" b="0">
                <a:solidFill>
                  <a:srgbClr val="1F2937"/>
                </a:solidFill>
                <a:latin typeface="Microsoft YaHei"/>
              </a:rPr>
              <a:t>s 是离散方向配置，q 是连续或分段容量曲线；直接混合采样会产生大量无效候选。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3310128"/>
            <a:ext cx="333756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8" y="3310128"/>
            <a:ext cx="54864" cy="1298448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456432"/>
            <a:ext cx="30175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为什么约束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40480"/>
            <a:ext cx="3017520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80" b="0">
                <a:solidFill>
                  <a:srgbClr val="1F2937"/>
                </a:solidFill>
                <a:latin typeface="Microsoft YaHei"/>
              </a:rPr>
              <a:t>T_s(x) 自动施加方向掩码、容量上界、关闭通道约束和必要平滑限制。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3310128"/>
            <a:ext cx="333756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3" y="3310128"/>
            <a:ext cx="54864" cy="1298448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5" y="3456432"/>
            <a:ext cx="30175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为什么复验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3840480"/>
            <a:ext cx="3017520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80" b="0">
                <a:solidFill>
                  <a:srgbClr val="1F2937"/>
                </a:solidFill>
                <a:latin typeface="Microsoft YaHei"/>
              </a:rPr>
              <a:t>低保真可辅助排序，但最终候选必须在统一高保真口径下重新仿真。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5449824"/>
            <a:ext cx="103784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650" b="1">
                <a:solidFill>
                  <a:srgbClr val="17324D"/>
                </a:solidFill>
                <a:latin typeface="Microsoft YaHei"/>
              </a:rPr>
              <a:t>当前主干：无低保真硬筛选、无 internal random search、方向内结构化容量搜索、高保真复验排序。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横向对比方法：HCMBO 面对强通用黑箱优化基线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481328"/>
          <a:ext cx="107442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794760"/>
                <a:gridCol w="4937760"/>
              </a:tblGrid>
              <a:tr h="568234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搜索特点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Microsoft YaHei"/>
                        </a:rPr>
                        <a:t>检验目的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</a:tr>
              <a:tr h="568234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Prior baseline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不进行新搜索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人工/历史配置参考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</a:tr>
              <a:tr h="568234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Random search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可行空间随机采样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检验结构化搜索必要性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Pure SA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混合变量邻域搜索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检验通用启发式搜索能力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</a:tr>
              <a:tr h="568234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Enum-DE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枚举方向 + 差分进化容量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检验离散外层+连续内层基线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TPE-Mixed BO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TPE 混合变量 BO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强通用黑箱优化基线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</a:tr>
              <a:tr h="568235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HCMBO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方向--容量层次结构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019" b="0">
                          <a:solidFill>
                            <a:srgbClr val="1F2937"/>
                          </a:solidFill>
                          <a:latin typeface="Microsoft YaHei"/>
                        </a:rPr>
                        <a:t>检验本文结构化优化方法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742432"/>
            <a:ext cx="103784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630" b="1">
                <a:solidFill>
                  <a:srgbClr val="17324D"/>
                </a:solidFill>
                <a:latin typeface="Microsoft YaHei"/>
              </a:rPr>
              <a:t>公平口径：固定 p̂ 与 η0、同一仿真预算、五个随机种子、统一高保真复验。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实验设计：机制验证、响应分析与优化对比逐层展开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508760"/>
            <a:ext cx="4919472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508760"/>
            <a:ext cx="54864" cy="1097280"/>
          </a:xfrm>
          <a:prstGeom prst="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655063"/>
            <a:ext cx="45994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G1 机制验证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4599432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70" b="0">
                <a:solidFill>
                  <a:srgbClr val="1F2937"/>
                </a:solidFill>
                <a:latin typeface="Microsoft YaHei"/>
              </a:rPr>
              <a:t>验证 U(x;s)、M(x;η0)、U+M 是否产生可解释局部机制。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08760"/>
            <a:ext cx="4919472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508760"/>
            <a:ext cx="54864" cy="109728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655063"/>
            <a:ext cx="45994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G2 方向/容量响应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039112"/>
            <a:ext cx="4599432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70" b="0">
                <a:solidFill>
                  <a:srgbClr val="1F2937"/>
                </a:solidFill>
                <a:latin typeface="Microsoft YaHei"/>
              </a:rPr>
              <a:t>分析方向配置和入口容量对效率、安全、均衡和等待的影响。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3200400"/>
            <a:ext cx="4919472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3200400"/>
            <a:ext cx="54864" cy="1097280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346704"/>
            <a:ext cx="45994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G3 行为层必要性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730752"/>
            <a:ext cx="4599432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70" b="0">
                <a:solidFill>
                  <a:srgbClr val="1F2937"/>
                </a:solidFill>
                <a:latin typeface="Microsoft YaHei"/>
              </a:rPr>
              <a:t>比较单阶段、多阶段均匀偏好、多阶段异质偏好。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3200400"/>
            <a:ext cx="4919472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3200400"/>
            <a:ext cx="54864" cy="109728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346704"/>
            <a:ext cx="459943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G6/G7 优化对比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730752"/>
            <a:ext cx="4599432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70" b="0">
                <a:solidFill>
                  <a:srgbClr val="1F2937"/>
                </a:solidFill>
                <a:latin typeface="Microsoft YaHei"/>
              </a:rPr>
              <a:t>比较 HCMBO 与随机、SA、Enum-DE、TPE-Mixed BO 等基线。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285232"/>
            <a:ext cx="1920240" cy="594360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128×96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网格分辨率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5285232"/>
            <a:ext cx="1920240" cy="594360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T=160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高保真时间上限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9864" y="5285232"/>
            <a:ext cx="1920240" cy="594360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5 seeds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横向统计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5285232"/>
            <a:ext cx="1920240" cy="594360"/>
          </a:xfrm>
          <a:prstGeom prst="round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HF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统一复验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机制验证：U 与 M 能分别控制可行方向和吸引域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1353312"/>
            <a:ext cx="3703320" cy="19933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1_m_attraction_flow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745" y="1645920"/>
            <a:ext cx="2080260" cy="1664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426464"/>
            <a:ext cx="34107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软几何引导：吸引域扩大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53312"/>
            <a:ext cx="3520440" cy="19933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1_u_direction_fiel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668660"/>
            <a:ext cx="3447288" cy="16187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53712" y="1426464"/>
            <a:ext cx="32278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硬方向约束：不可行方向被排除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53312"/>
            <a:ext cx="3520440" cy="19933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1_um_configuration_flow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1985554"/>
            <a:ext cx="3447288" cy="9849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93024" y="1426464"/>
            <a:ext cx="32278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U+M：受控通道迁移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840480"/>
            <a:ext cx="10561320" cy="129844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2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520" b="0">
                <a:solidFill>
                  <a:srgbClr val="1F2937"/>
                </a:solidFill>
                <a:latin typeface="Microsoft YaHei"/>
              </a:rPr>
              <a:t>M-only 不是关闭其他通道，而是改变可行方向内部的相对代价；中通道吸引域显著扩大。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2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520" b="0">
                <a:solidFill>
                  <a:srgbClr val="1F2937"/>
                </a:solidFill>
                <a:latin typeface="Microsoft YaHei"/>
              </a:rPr>
              <a:t>U-only 将受限方向从可行集合中排除，流量被重新分配到可行通道。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2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520" b="0">
                <a:solidFill>
                  <a:srgbClr val="1F2937"/>
                </a:solidFill>
                <a:latin typeface="Microsoft YaHei"/>
              </a:rPr>
              <a:t>U+M 组合能稳定改变主导流量通道和局部密度热点，可作为策略评估的动力学基础。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14416"/>
            <a:ext cx="101498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650" b="1">
                <a:solidFill>
                  <a:srgbClr val="17324D"/>
                </a:solidFill>
                <a:latin typeface="Microsoft YaHei"/>
              </a:rPr>
              <a:t>机制层结论：规则表达具有可解释性，不只是黑箱输出差异。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方向响应：不存在同时最优的单一方向配置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426464"/>
            <a:ext cx="6172200" cy="2971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2_control_tradeoff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3" y="2030194"/>
            <a:ext cx="6080760" cy="20203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1499616"/>
            <a:ext cx="5879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方向控制变量的目标空间权衡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22592" y="1426464"/>
            <a:ext cx="4315968" cy="2971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2_spatial_mechanism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156226"/>
            <a:ext cx="4224528" cy="17683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68896" y="1499616"/>
            <a:ext cx="40233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空间机制解释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14400" y="4681728"/>
          <a:ext cx="489204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965960"/>
                <a:gridCol w="1371600"/>
              </a:tblGrid>
              <a:tr h="223113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FFFFFF"/>
                          </a:solidFill>
                          <a:latin typeface="Microsoft YaHei"/>
                        </a:rPr>
                        <a:t>代表配置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Microsoft YaHei"/>
                        </a:rPr>
                        <a:t>最优项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</a:tr>
              <a:tr h="223113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F2937"/>
                          </a:solidFill>
                          <a:latin typeface="Microsoft YaHei"/>
                        </a:rPr>
                        <a:t>C8 / EEWE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1F2937"/>
                          </a:solidFill>
                          <a:latin typeface="Microsoft YaHei"/>
                        </a:rPr>
                        <a:t>综合目标最低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1F2937"/>
                          </a:solidFill>
                          <a:latin typeface="Microsoft YaHei"/>
                        </a:rPr>
                        <a:t>J̃=0.5102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</a:tr>
              <a:tr h="223113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F2937"/>
                          </a:solidFill>
                          <a:latin typeface="Microsoft YaHei"/>
                        </a:rPr>
                        <a:t>C1 / BSL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1F2937"/>
                          </a:solidFill>
                          <a:latin typeface="Microsoft YaHei"/>
                        </a:rPr>
                        <a:t>安全暴露最低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1F2937"/>
                          </a:solidFill>
                          <a:latin typeface="Microsoft YaHei"/>
                        </a:rPr>
                        <a:t>J̃2=0.00785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23113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F2937"/>
                          </a:solidFill>
                          <a:latin typeface="Microsoft YaHei"/>
                        </a:rPr>
                        <a:t>C9 / EEEW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1F2937"/>
                          </a:solidFill>
                          <a:latin typeface="Microsoft YaHei"/>
                        </a:rPr>
                        <a:t>负载均衡最优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1F2937"/>
                          </a:solidFill>
                          <a:latin typeface="Microsoft YaHei"/>
                        </a:rPr>
                        <a:t>J̃5=0.1138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</a:tr>
              <a:tr h="223116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F2937"/>
                          </a:solidFill>
                          <a:latin typeface="Microsoft YaHei"/>
                        </a:rPr>
                        <a:t>C3 / SE-M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1F2937"/>
                          </a:solidFill>
                          <a:latin typeface="Microsoft YaHei"/>
                        </a:rPr>
                        <a:t>效率指标最优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1F2937"/>
                          </a:solidFill>
                          <a:latin typeface="Microsoft YaHei"/>
                        </a:rPr>
                        <a:t>J̃1=0.3141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08192" y="4965192"/>
            <a:ext cx="484632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620" b="1">
                <a:solidFill>
                  <a:srgbClr val="17324D"/>
                </a:solidFill>
                <a:latin typeface="Microsoft YaHei"/>
              </a:rPr>
              <a:t>方向配置呈现效率、安全和负载均衡的非单调权衡，是后续自动优化的直接动因。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入口容量响应：容量不是越松或越紧越好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5138928" cy="2816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2_capacity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18" y="1755648"/>
            <a:ext cx="4186427" cy="24505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517904"/>
            <a:ext cx="4846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容量强度扫描下的目标函数响应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44752"/>
            <a:ext cx="5230368" cy="2816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2_waiting_mass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622" y="1755648"/>
            <a:ext cx="4390644" cy="2450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27064" y="1517904"/>
            <a:ext cx="493775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容量控制下的等待质量时间序列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17720"/>
            <a:ext cx="10378440" cy="111556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3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530" b="0">
                <a:solidFill>
                  <a:srgbClr val="1F2937"/>
                </a:solidFill>
                <a:latin typeface="Microsoft YaHei"/>
              </a:rPr>
              <a:t>no-cap 综合目标为 1.6851，入口拒绝量为 0；收紧容量会提高入口绑定比例和等待压力。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3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530" b="0">
                <a:solidFill>
                  <a:srgbClr val="1F2937"/>
                </a:solidFill>
                <a:latin typeface="Microsoft YaHei"/>
              </a:rPr>
              <a:t>容量变量使 J̃2、J̃5、入口等待和拒绝量发生可观测变化，其中入口拒绝量相对变化 139.15%。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3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530" b="0">
                <a:solidFill>
                  <a:srgbClr val="1F2937"/>
                </a:solidFill>
                <a:latin typeface="Microsoft YaHei"/>
              </a:rPr>
              <a:t>容量 q 必须与方向 s 联合优化，因为方向决定容量曲线的有效可行结构。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多阶段行为层必要性：忽略阶段链会造成评价偏差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6035040" cy="3154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3_behavior_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86089"/>
            <a:ext cx="5925312" cy="24731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1490472"/>
            <a:ext cx="5742431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平台滞留质量与系统评价指标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1664208"/>
            <a:ext cx="42519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1664208"/>
            <a:ext cx="54864" cy="91440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59" y="1810512"/>
            <a:ext cx="39319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单阶段近似的问题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2194560"/>
            <a:ext cx="3931920" cy="2926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60" b="0">
                <a:solidFill>
                  <a:srgbClr val="1F2937"/>
                </a:solidFill>
                <a:latin typeface="Microsoft YaHei"/>
              </a:rPr>
              <a:t>无法表达游客先进入、再游览、后离场或回流的阶段链。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59168" y="2816352"/>
            <a:ext cx="42519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59168" y="2816352"/>
            <a:ext cx="54864" cy="91440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59" y="2962656"/>
            <a:ext cx="39319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固定异质偏好的作用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3346704"/>
            <a:ext cx="3931920" cy="2926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60" b="0">
                <a:solidFill>
                  <a:srgbClr val="1F2937"/>
                </a:solidFill>
                <a:latin typeface="Microsoft YaHei"/>
              </a:rPr>
              <a:t>p̂ 作为外生输入，保留历史路线分流对通道负载的影响。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3968496"/>
            <a:ext cx="42519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59168" y="3968496"/>
            <a:ext cx="54864" cy="914400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4114800"/>
            <a:ext cx="39319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对优化的含义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4498848"/>
            <a:ext cx="3931920" cy="2926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60" b="0">
                <a:solidFill>
                  <a:srgbClr val="1F2937"/>
                </a:solidFill>
                <a:latin typeface="Microsoft YaHei"/>
              </a:rPr>
              <a:t>策略评价必须基于多阶段评估器，否则 HCMBO 会被错误目标牵引。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532120"/>
            <a:ext cx="10287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650" b="1">
                <a:solidFill>
                  <a:srgbClr val="17324D"/>
                </a:solidFill>
                <a:latin typeface="Microsoft YaHei"/>
              </a:rPr>
              <a:t>行为层结论：开放式景区不应被简化为一次性入口到出口的单目的地疏散。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横向优化结果：HCMBO 取得最低平均目标与最高可行率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25880"/>
            <a:ext cx="5715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Microsoft YaHei"/>
              </a:rPr>
              <a:t>平均高保真目标值（越低越好）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55064"/>
            <a:ext cx="237744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70" b="1">
                <a:solidFill>
                  <a:srgbClr val="1F2937"/>
                </a:solidFill>
                <a:latin typeface="Microsoft YaHei"/>
              </a:rPr>
              <a:t>HCMBO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3824" y="1737360"/>
            <a:ext cx="2377440" cy="225334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63824" y="1737360"/>
            <a:ext cx="1118160" cy="225334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14416" y="1645920"/>
            <a:ext cx="64008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r"/>
            <a:r>
              <a:rPr sz="1030" b="1">
                <a:solidFill>
                  <a:srgbClr val="1F2937"/>
                </a:solidFill>
                <a:latin typeface="Microsoft YaHei"/>
              </a:rPr>
              <a:t>2.634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2020824"/>
            <a:ext cx="2377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Microsoft YaHei"/>
              </a:rPr>
              <a:t>feasible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44921"/>
            <a:ext cx="237744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Microsoft YaHei"/>
              </a:rPr>
              <a:t>TPE-Mixed BO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63824" y="2227217"/>
            <a:ext cx="2377440" cy="225334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63824" y="2227217"/>
            <a:ext cx="1163374" cy="225334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4416" y="2135777"/>
            <a:ext cx="64008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r"/>
            <a:r>
              <a:rPr sz="1030" b="0">
                <a:solidFill>
                  <a:srgbClr val="1F2937"/>
                </a:solidFill>
                <a:latin typeface="Microsoft YaHei"/>
              </a:rPr>
              <a:t>2.74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2510681"/>
            <a:ext cx="2377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Microsoft YaHei"/>
              </a:rPr>
              <a:t>feasible 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634778"/>
            <a:ext cx="237744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Microsoft YaHei"/>
              </a:rPr>
              <a:t>HCMBO + random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63824" y="2717074"/>
            <a:ext cx="2377440" cy="225334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63824" y="2717074"/>
            <a:ext cx="1224721" cy="225334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4416" y="2625634"/>
            <a:ext cx="64008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r"/>
            <a:r>
              <a:rPr sz="1030" b="0">
                <a:solidFill>
                  <a:srgbClr val="1F2937"/>
                </a:solidFill>
                <a:latin typeface="Microsoft YaHei"/>
              </a:rPr>
              <a:t>2.885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000538"/>
            <a:ext cx="2377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Microsoft YaHei"/>
              </a:rPr>
              <a:t>feasible 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124635"/>
            <a:ext cx="237744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Microsoft YaHei"/>
              </a:rPr>
              <a:t>Pure SA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3206931"/>
            <a:ext cx="2377440" cy="225334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63824" y="3206931"/>
            <a:ext cx="1241702" cy="225334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4416" y="3115491"/>
            <a:ext cx="64008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r"/>
            <a:r>
              <a:rPr sz="1030" b="0">
                <a:solidFill>
                  <a:srgbClr val="1F2937"/>
                </a:solidFill>
                <a:latin typeface="Microsoft YaHei"/>
              </a:rPr>
              <a:t>2.925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6976" y="3490395"/>
            <a:ext cx="2377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Microsoft YaHei"/>
              </a:rPr>
              <a:t>feasible 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614492"/>
            <a:ext cx="237744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Microsoft YaHei"/>
              </a:rPr>
              <a:t>Random Search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63824" y="3696788"/>
            <a:ext cx="2377440" cy="225334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63824" y="3696788"/>
            <a:ext cx="1278383" cy="225334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14416" y="3605348"/>
            <a:ext cx="64008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r"/>
            <a:r>
              <a:rPr sz="1030" b="0">
                <a:solidFill>
                  <a:srgbClr val="1F2937"/>
                </a:solidFill>
                <a:latin typeface="Microsoft YaHei"/>
              </a:rPr>
              <a:t>3.011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6976" y="3980252"/>
            <a:ext cx="2377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Microsoft YaHei"/>
              </a:rPr>
              <a:t>feasible 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4104349"/>
            <a:ext cx="237744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Microsoft YaHei"/>
              </a:rPr>
              <a:t>Enum-DE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63824" y="4186645"/>
            <a:ext cx="2377440" cy="225334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163824" y="4186645"/>
            <a:ext cx="1298973" cy="225334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4416" y="4095205"/>
            <a:ext cx="64008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r"/>
            <a:r>
              <a:rPr sz="1030" b="0">
                <a:solidFill>
                  <a:srgbClr val="1F2937"/>
                </a:solidFill>
                <a:latin typeface="Microsoft YaHei"/>
              </a:rPr>
              <a:t>3.06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36976" y="4470109"/>
            <a:ext cx="2377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Microsoft YaHei"/>
              </a:rPr>
              <a:t>feasible 40%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4594206"/>
            <a:ext cx="237744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Microsoft YaHei"/>
              </a:rPr>
              <a:t>Prior baseline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63824" y="4676502"/>
            <a:ext cx="2377440" cy="225334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163824" y="4676502"/>
            <a:ext cx="2325391" cy="225334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14416" y="4585062"/>
            <a:ext cx="640080" cy="4624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r"/>
            <a:r>
              <a:rPr sz="1030" b="0">
                <a:solidFill>
                  <a:srgbClr val="1F2937"/>
                </a:solidFill>
                <a:latin typeface="Microsoft YaHei"/>
              </a:rPr>
              <a:t>5.477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36976" y="4959966"/>
            <a:ext cx="23774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Microsoft YaHei"/>
              </a:rPr>
              <a:t>feasible 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59168" y="1627632"/>
            <a:ext cx="1508760" cy="62179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4/5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低于 TPE 的种子数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96528" y="1627632"/>
            <a:ext cx="1508760" cy="621792"/>
          </a:xfrm>
          <a:prstGeom prst="round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-0.1066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对 TPE 平均差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33888" y="1627632"/>
            <a:ext cx="914400" cy="621792"/>
          </a:xfrm>
          <a:prstGeom prst="round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" rIns="22860" tIns="9144" bIns="9144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3.9%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icrosoft YaHei"/>
              </a:rPr>
              <a:t>降幅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6967728" y="2615184"/>
          <a:ext cx="4407408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572768"/>
              </a:tblGrid>
              <a:tr h="39502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Microsoft YaHei"/>
                        </a:rPr>
                        <a:t>HCMBO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60" b="1">
                          <a:solidFill>
                            <a:srgbClr val="FFFFFF"/>
                          </a:solidFill>
                          <a:latin typeface="Microsoft YaHei"/>
                        </a:rPr>
                        <a:t>TPE-Mixed BO</a:t>
                      </a:r>
                    </a:p>
                  </a:txBody>
                  <a:tcPr marL="45720" marR="45720" marT="18288" marB="18288">
                    <a:solidFill>
                      <a:srgbClr val="17324D"/>
                    </a:solidFill>
                  </a:tcPr>
                </a:tc>
              </a:tr>
              <a:tr h="39502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60" b="0">
                          <a:solidFill>
                            <a:srgbClr val="1F2937"/>
                          </a:solidFill>
                          <a:latin typeface="Microsoft YaHei"/>
                        </a:rPr>
                        <a:t>平均目标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1F2937"/>
                          </a:solidFill>
                          <a:latin typeface="Microsoft YaHei"/>
                        </a:rPr>
                        <a:t>2.6338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1F2937"/>
                          </a:solidFill>
                          <a:latin typeface="Microsoft YaHei"/>
                        </a:rPr>
                        <a:t>2.7403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</a:tr>
              <a:tr h="39502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60" b="0">
                          <a:solidFill>
                            <a:srgbClr val="1F2937"/>
                          </a:solidFill>
                          <a:latin typeface="Microsoft YaHei"/>
                        </a:rPr>
                        <a:t>中位数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1F2937"/>
                          </a:solidFill>
                          <a:latin typeface="Microsoft YaHei"/>
                        </a:rPr>
                        <a:t>2.5065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1F2937"/>
                          </a:solidFill>
                          <a:latin typeface="Microsoft YaHei"/>
                        </a:rPr>
                        <a:t>2.6288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9502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60" b="0">
                          <a:solidFill>
                            <a:srgbClr val="1F2937"/>
                          </a:solidFill>
                          <a:latin typeface="Microsoft YaHei"/>
                        </a:rPr>
                        <a:t>最好目标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1F2937"/>
                          </a:solidFill>
                          <a:latin typeface="Microsoft YaHei"/>
                        </a:rPr>
                        <a:t>2.4495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1F2937"/>
                          </a:solidFill>
                          <a:latin typeface="Microsoft YaHei"/>
                        </a:rPr>
                        <a:t>2.5180</a:t>
                      </a:r>
                    </a:p>
                  </a:txBody>
                  <a:tcPr marL="45720" marR="45720" marT="18288" marB="18288">
                    <a:solidFill>
                      <a:srgbClr val="F2F5F8"/>
                    </a:solidFill>
                  </a:tcPr>
                </a:tc>
              </a:tr>
              <a:tr h="395024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960" b="0">
                          <a:solidFill>
                            <a:srgbClr val="1F2937"/>
                          </a:solidFill>
                          <a:latin typeface="Microsoft YaHei"/>
                        </a:rPr>
                        <a:t>可行率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1F2937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1F2937"/>
                          </a:solidFill>
                          <a:latin typeface="Microsoft YaHei"/>
                        </a:rPr>
                        <a:t>80%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6931152" y="5102352"/>
            <a:ext cx="44805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20" b="1">
                <a:solidFill>
                  <a:srgbClr val="17324D"/>
                </a:solidFill>
                <a:latin typeface="Microsoft YaHei"/>
              </a:rPr>
              <a:t>结论：HCMBO 的优势并非来自弱基线设置，而是来自方向--容量层次结构对有限预算的利用。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优化可视化：目标分布、可行率、收敛与容量剖面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371600"/>
            <a:ext cx="274320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6_paper_best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795272"/>
            <a:ext cx="2670048" cy="1557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1444752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最好目标分布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1371600"/>
            <a:ext cx="274320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6_paper_objective_fea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1684020"/>
            <a:ext cx="2670048" cy="1780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0" y="1444752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目标与可行率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5664" y="1371600"/>
            <a:ext cx="260604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6_paper_converg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74176"/>
            <a:ext cx="2532888" cy="15997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01968" y="1444752"/>
            <a:ext cx="23134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收敛曲线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2016" y="1371600"/>
            <a:ext cx="2331720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6_paper_control_profi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2" y="1738836"/>
            <a:ext cx="2258568" cy="16703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418320" y="1444752"/>
            <a:ext cx="203911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Microsoft YaHei"/>
              </a:rPr>
              <a:t>最优容量剖面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069080"/>
            <a:ext cx="10469880" cy="1234440"/>
          </a:xfrm>
          <a:prstGeom prst="rect">
            <a:avLst/>
          </a:prstGeom>
          <a:noFill/>
        </p:spPr>
        <p:txBody>
          <a:bodyPr wrap="square" lIns="22860" rIns="22860" tIns="9144" bIns="9144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■ </a:t>
            </a:r>
            <a:r>
              <a:rPr sz="1600" b="1">
                <a:solidFill>
                  <a:srgbClr val="FFFFFF"/>
                </a:solidFill>
                <a:latin typeface="Microsoft YaHei"/>
              </a:rPr>
              <a:t>随机搜索缺少方向--容量一致性利用，收敛速度和可行率较低。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Microsoft YaHei"/>
              </a:rPr>
              <a:t>■ </a:t>
            </a:r>
            <a:r>
              <a:rPr sz="680" b="0">
                <a:solidFill>
                  <a:srgbClr val="FFFFFF"/>
                </a:solidFill>
                <a:latin typeface="Microsoft YaHei"/>
              </a:rPr>
              <a:t>模拟退火依赖混合变量邻域设计，枚举-DE 在容量优化与高保真复验之间仍有不确定性。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FFFFFF"/>
                </a:solidFill>
                <a:latin typeface="Microsoft YaHei"/>
              </a:rPr>
              <a:t>■ </a:t>
            </a:r>
            <a:r>
              <a:rPr sz="680" b="0">
                <a:solidFill>
                  <a:srgbClr val="FFFFFF"/>
                </a:solidFill>
                <a:latin typeface="Microsoft YaHei"/>
              </a:rPr>
              <a:t>HCMBO 通过结构化容量搜索与高保真复验减少无效候选，使预算集中到有管理含义的策略。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消融结论：收益主要来自联合控制和结构化容量搜索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234439"/>
            <a:ext cx="5394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Microsoft YaHei"/>
              </a:rPr>
              <a:t>控制变量与目标项消融（best HF objective）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563624"/>
            <a:ext cx="237744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70" b="1">
                <a:solidFill>
                  <a:srgbClr val="1F2937"/>
                </a:solidFill>
                <a:latin typeface="Microsoft YaHei"/>
              </a:rPr>
              <a:t>HCMBO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63824" y="1645919"/>
            <a:ext cx="2057400" cy="248168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63824" y="1645919"/>
            <a:ext cx="1536583" cy="248168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4376" y="1554480"/>
            <a:ext cx="64008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r"/>
            <a:r>
              <a:rPr sz="1030" b="1">
                <a:solidFill>
                  <a:srgbClr val="1F2937"/>
                </a:solidFill>
                <a:latin typeface="Microsoft YaHei"/>
              </a:rPr>
              <a:t>2.614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1929384"/>
            <a:ext cx="2057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Microsoft YaHei"/>
              </a:rPr>
              <a:t>joint s,q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03120"/>
            <a:ext cx="237744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Microsoft YaHei"/>
              </a:rPr>
              <a:t>No JB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63824" y="2185416"/>
            <a:ext cx="2057400" cy="248168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63824" y="2185416"/>
            <a:ext cx="1529236" cy="248168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4376" y="2093976"/>
            <a:ext cx="64008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r"/>
            <a:r>
              <a:rPr sz="1030" b="0">
                <a:solidFill>
                  <a:srgbClr val="1F2937"/>
                </a:solidFill>
                <a:latin typeface="Microsoft YaHei"/>
              </a:rPr>
              <a:t>2.602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2468880"/>
            <a:ext cx="2057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Microsoft YaHei"/>
              </a:rPr>
              <a:t>gate rejected 3239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642616"/>
            <a:ext cx="237744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Microsoft YaHei"/>
              </a:rPr>
              <a:t>LF hard shortlist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63824" y="2724912"/>
            <a:ext cx="2057400" cy="248168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63824" y="2724912"/>
            <a:ext cx="1730626" cy="248168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94376" y="2633472"/>
            <a:ext cx="64008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r"/>
            <a:r>
              <a:rPr sz="1030" b="0">
                <a:solidFill>
                  <a:srgbClr val="1F2937"/>
                </a:solidFill>
                <a:latin typeface="Microsoft YaHei"/>
              </a:rPr>
              <a:t>2.944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008376"/>
            <a:ext cx="2057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Microsoft YaHei"/>
              </a:rPr>
              <a:t>infeasible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182112"/>
            <a:ext cx="237744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Microsoft YaHei"/>
              </a:rPr>
              <a:t>Only q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63824" y="3264408"/>
            <a:ext cx="2057400" cy="248168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63824" y="3264408"/>
            <a:ext cx="1948063" cy="248168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3172968"/>
            <a:ext cx="64008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r"/>
            <a:r>
              <a:rPr sz="1030" b="0">
                <a:solidFill>
                  <a:srgbClr val="1F2937"/>
                </a:solidFill>
                <a:latin typeface="Microsoft YaHei"/>
              </a:rPr>
              <a:t>3.314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6976" y="3547872"/>
            <a:ext cx="2057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Microsoft YaHei"/>
              </a:rPr>
              <a:t>fixed direction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721608"/>
            <a:ext cx="237744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70" b="0">
                <a:solidFill>
                  <a:srgbClr val="64748B"/>
                </a:solidFill>
                <a:latin typeface="Microsoft YaHei"/>
              </a:rPr>
              <a:t>Only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63824" y="3803904"/>
            <a:ext cx="2057400" cy="248168"/>
          </a:xfrm>
          <a:prstGeom prst="round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63824" y="3803904"/>
            <a:ext cx="1983980" cy="248168"/>
          </a:xfrm>
          <a:prstGeom prst="roundRect">
            <a:avLst/>
          </a:prstGeom>
          <a:solidFill>
            <a:srgbClr val="3A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94376" y="3712463"/>
            <a:ext cx="64008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r"/>
            <a:r>
              <a:rPr sz="1030" b="0">
                <a:solidFill>
                  <a:srgbClr val="1F2937"/>
                </a:solidFill>
                <a:latin typeface="Microsoft YaHei"/>
              </a:rPr>
              <a:t>3.375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6976" y="4087368"/>
            <a:ext cx="2057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Microsoft YaHei"/>
              </a:rPr>
              <a:t>high capacity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65392" y="1554480"/>
            <a:ext cx="45720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65392" y="1554480"/>
            <a:ext cx="54864" cy="841248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9983" y="1700784"/>
            <a:ext cx="42519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联合优化不可替代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3" y="2084831"/>
            <a:ext cx="4251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30" b="0">
                <a:solidFill>
                  <a:srgbClr val="1F2937"/>
                </a:solidFill>
                <a:latin typeface="Microsoft YaHei"/>
              </a:rPr>
              <a:t>只优化方向或只优化容量，best HF objective 均高于联合优化。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65392" y="2615184"/>
            <a:ext cx="45720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65392" y="2615184"/>
            <a:ext cx="54864" cy="841248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9983" y="2761488"/>
            <a:ext cx="42519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低保真不能硬筛选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9983" y="3145536"/>
            <a:ext cx="4251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30" b="0">
                <a:solidFill>
                  <a:srgbClr val="1F2937"/>
                </a:solidFill>
                <a:latin typeface="Microsoft YaHei"/>
              </a:rPr>
              <a:t>短时低保真会误删长时程优良方向，导致候选不可行或目标变差。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65392" y="3675887"/>
            <a:ext cx="457200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5392" y="3675887"/>
            <a:ext cx="54864" cy="841248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9983" y="3822191"/>
            <a:ext cx="42519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内部随机搜索会稀释预算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9983" y="4206240"/>
            <a:ext cx="4251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30" b="0">
                <a:solidFill>
                  <a:srgbClr val="1F2937"/>
                </a:solidFill>
                <a:latin typeface="Microsoft YaHei"/>
              </a:rPr>
              <a:t>去除 internal random search 后 best HF objective 从 3.0286 降至 2.4495。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532120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600" b="1">
                <a:solidFill>
                  <a:srgbClr val="17324D"/>
                </a:solidFill>
                <a:latin typeface="Microsoft YaHei"/>
              </a:rPr>
              <a:t>最终主干：无低保真硬筛选 + 无内部随机搜索 + 方向内结构化容量搜索 + 高保真复验排序。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1F2937"/>
                </a:solidFill>
                <a:latin typeface="Microsoft YaHei"/>
              </a:rPr>
              <a:t>讨论：可解释决策工具，而不是一次性现场替代方案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536192"/>
            <a:ext cx="338328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536192"/>
            <a:ext cx="54864" cy="1280160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82495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已解决的问题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66543"/>
            <a:ext cx="3063240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把方向规则、入口限流、多阶段行为和仿真优化放入一个可解释框架。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536192"/>
            <a:ext cx="338328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536192"/>
            <a:ext cx="54864" cy="1280160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82495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当前局限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66543"/>
            <a:ext cx="3063240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四通道抽象、权重设定和有限随机种子会影响优化排序与统计稳定性。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536192"/>
            <a:ext cx="338328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536192"/>
            <a:ext cx="54864" cy="1280160"/>
          </a:xfrm>
          <a:prstGeom prst="rect">
            <a:avLst/>
          </a:prstGeom>
          <a:solidFill>
            <a:srgbClr val="D14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682495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17324D"/>
                </a:solidFill>
                <a:latin typeface="Microsoft YaHei"/>
              </a:rPr>
              <a:t>安全稳定性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66543"/>
            <a:ext cx="3063240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个别随机种子下安全暴露项偏高，仍需更强约束感知搜索。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57600"/>
            <a:ext cx="10241280" cy="1426464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8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580" b="0">
                <a:solidFill>
                  <a:srgbClr val="1F2937"/>
                </a:solidFill>
                <a:latin typeface="Microsoft YaHei"/>
              </a:rPr>
              <a:t>扩展到更复杂真实几何和更多节假日需求水平。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8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580" b="0">
                <a:solidFill>
                  <a:srgbClr val="1F2937"/>
                </a:solidFill>
                <a:latin typeface="Microsoft YaHei"/>
              </a:rPr>
              <a:t>补充更多随机种子、更强 TPE/SMAC 基线与统计显著性分析。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8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580" b="0">
                <a:solidFill>
                  <a:srgbClr val="1F2937"/>
                </a:solidFill>
                <a:latin typeface="Microsoft YaHei"/>
              </a:rPr>
              <a:t>开展多权重 Pareto 分析，支持不同管理偏好的策略选择。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80" b="1">
                <a:solidFill>
                  <a:srgbClr val="009B9F"/>
                </a:solidFill>
                <a:latin typeface="Microsoft YaHei"/>
              </a:rPr>
              <a:t>■ </a:t>
            </a:r>
            <a:r>
              <a:rPr sz="1580" b="0">
                <a:solidFill>
                  <a:srgbClr val="1F2937"/>
                </a:solidFill>
                <a:latin typeface="Microsoft YaHei"/>
              </a:rPr>
              <a:t>引入现场观测数据校准和在线更新，提高实际管控适用性。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6510528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565392"/>
            <a:ext cx="50292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780" b="0">
                <a:solidFill>
                  <a:srgbClr val="64748B"/>
                </a:solidFill>
                <a:latin typeface="Microsoft YaHei"/>
              </a:rPr>
              <a:t>HCMBO crowd-control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65392"/>
            <a:ext cx="59436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292608"/>
            <a:ext cx="1417320" cy="301752"/>
          </a:xfrm>
          <a:prstGeom prst="round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/>
          <a:lstStyle/>
          <a:p>
            <a:pPr algn="ctr"/>
            <a:r>
              <a:rPr sz="950" b="1">
                <a:solidFill>
                  <a:srgbClr val="0F2538"/>
                </a:solidFill>
                <a:latin typeface="Microsoft YaHei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789920" cy="594360"/>
          </a:xfrm>
          <a:prstGeom prst="rect">
            <a:avLst/>
          </a:prstGeom>
          <a:noFill/>
        </p:spPr>
        <p:txBody>
          <a:bodyPr wrap="none" lIns="0" rIns="0">
            <a:norm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结论：HCMBO 将“可解释规则建模”推进到“可优化管控决策”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914400" cy="45720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1700784"/>
            <a:ext cx="3383280" cy="1572768"/>
          </a:xfrm>
          <a:prstGeom prst="roundRect">
            <a:avLst/>
          </a:prstGeom>
          <a:solidFill>
            <a:srgbClr val="203D58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700784"/>
            <a:ext cx="54864" cy="1572768"/>
          </a:xfrm>
          <a:prstGeom prst="rect">
            <a:avLst/>
          </a:prstGeom>
          <a:solidFill>
            <a:srgbClr val="009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847088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/>
              </a:rPr>
              <a:t>模型贡献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231136"/>
            <a:ext cx="3063240" cy="950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20" b="0">
                <a:solidFill>
                  <a:srgbClr val="DDE7F0"/>
                </a:solidFill>
                <a:latin typeface="Microsoft YaHei"/>
              </a:rPr>
              <a:t>Bellman--守恒律框架同时表达方向硬约束、固定几何引导、多阶段行为和入口容量控制。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00784"/>
            <a:ext cx="3383280" cy="1572768"/>
          </a:xfrm>
          <a:prstGeom prst="roundRect">
            <a:avLst/>
          </a:prstGeom>
          <a:solidFill>
            <a:srgbClr val="203D58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700784"/>
            <a:ext cx="54864" cy="1572768"/>
          </a:xfrm>
          <a:prstGeom prst="rect">
            <a:avLst/>
          </a:prstGeom>
          <a:solidFill>
            <a:srgbClr val="F2B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47088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/>
              </a:rPr>
              <a:t>方法贡献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31136"/>
            <a:ext cx="3063240" cy="950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20" b="0">
                <a:solidFill>
                  <a:srgbClr val="DDE7F0"/>
                </a:solidFill>
                <a:latin typeface="Microsoft YaHei"/>
              </a:rPr>
              <a:t>HCMBO 利用方向--容量一致性进行结构化搜索，并以高保真复验确定最终候选。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700784"/>
            <a:ext cx="3383280" cy="1572768"/>
          </a:xfrm>
          <a:prstGeom prst="roundRect">
            <a:avLst/>
          </a:prstGeom>
          <a:solidFill>
            <a:srgbClr val="203D58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700784"/>
            <a:ext cx="54864" cy="1572768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1847088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/>
              </a:rPr>
              <a:t>实验结论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231136"/>
            <a:ext cx="3063240" cy="9509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20" b="0">
                <a:solidFill>
                  <a:srgbClr val="DDE7F0"/>
                </a:solidFill>
                <a:latin typeface="Microsoft YaHei"/>
              </a:rPr>
              <a:t>平均目标 2.6338，较次优 TPE-style 混合 BO 低约 3.9%，可行率 100%。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15968"/>
            <a:ext cx="102412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YaHei"/>
              </a:rPr>
              <a:t>核心信息：方向配置 s 决定可行结构，入口容量 q 决定连续响应，二者必须在多阶段行为评估器下联合优化。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779008"/>
            <a:ext cx="10149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100" b="0">
                <a:solidFill>
                  <a:srgbClr val="B8C8D9"/>
                </a:solidFill>
                <a:latin typeface="Microsoft YaHei"/>
              </a:rPr>
              <a:t>文件来源：D:\CrowdModels\writing 中文期刊论文章节与项目图表素材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HCMBO 中文论文汇报</dc:title>
  <dc:subject>Bellman--守恒律宏观人群模型与分层约束混合变量黑箱优化</dc:subject>
  <dc:creator>Codex generated from D:\CrowdModels\writing</dc:creator>
  <cp:keywords/>
  <dc:description>Generated from Chinese paper chapters and existing project figures; &lt;=30 slides.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